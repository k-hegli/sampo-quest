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Playfair Display"/>
      <p:regular r:id="rId30"/>
      <p:bold r:id="rId31"/>
      <p:italic r:id="rId32"/>
      <p:boldItalic r:id="rId33"/>
    </p:embeddedFont>
    <p:embeddedFont>
      <p:font typeface="Helvetica Neue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-bold.fntdata"/><Relationship Id="rId30" Type="http://schemas.openxmlformats.org/officeDocument/2006/relationships/font" Target="fonts/PlayfairDisplay-regular.fntdata"/><Relationship Id="rId11" Type="http://schemas.openxmlformats.org/officeDocument/2006/relationships/slide" Target="slides/slide6.xml"/><Relationship Id="rId33" Type="http://schemas.openxmlformats.org/officeDocument/2006/relationships/font" Target="fonts/PlayfairDisplay-boldItalic.fntdata"/><Relationship Id="rId10" Type="http://schemas.openxmlformats.org/officeDocument/2006/relationships/slide" Target="slides/slide5.xml"/><Relationship Id="rId32" Type="http://schemas.openxmlformats.org/officeDocument/2006/relationships/font" Target="fonts/PlayfairDisplay-italic.fntdata"/><Relationship Id="rId13" Type="http://schemas.openxmlformats.org/officeDocument/2006/relationships/slide" Target="slides/slide8.xml"/><Relationship Id="rId35" Type="http://schemas.openxmlformats.org/officeDocument/2006/relationships/font" Target="fonts/HelveticaNeue-bold.fntdata"/><Relationship Id="rId12" Type="http://schemas.openxmlformats.org/officeDocument/2006/relationships/slide" Target="slides/slide7.xml"/><Relationship Id="rId34" Type="http://schemas.openxmlformats.org/officeDocument/2006/relationships/font" Target="fonts/HelveticaNeue-regular.fntdata"/><Relationship Id="rId15" Type="http://schemas.openxmlformats.org/officeDocument/2006/relationships/slide" Target="slides/slide10.xml"/><Relationship Id="rId37" Type="http://schemas.openxmlformats.org/officeDocument/2006/relationships/font" Target="fonts/HelveticaNeue-boldItalic.fntdata"/><Relationship Id="rId14" Type="http://schemas.openxmlformats.org/officeDocument/2006/relationships/slide" Target="slides/slide9.xml"/><Relationship Id="rId36" Type="http://schemas.openxmlformats.org/officeDocument/2006/relationships/font" Target="fonts/HelveticaNeue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98389547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98389547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ded3324d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ded3324d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2287c54dd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2287c54dd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97c03795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97c03795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113af2a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113af2a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2287c54dd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2287c54dd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97c03795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97c03795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2287c54dd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2287c54d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ded3324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ded3324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2287c54dd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2287c54dd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ded3324d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ded3324d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2287c54dd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2287c54dd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98389547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98389547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228852fe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228852fe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ded3324d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ded3324d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228852fe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228852fe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9e4bc0e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9e4bc0e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228852fe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228852fe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9e4bc0ef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9e4bc0ef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228852fe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228852fe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9e4bc0ef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9e4bc0ef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228852fe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c228852fe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228852fe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c228852fe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-50" y="0"/>
            <a:ext cx="44979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Meren olennot: Kalat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Veden haltija Ahti sanoo,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“Auta minua suojelemaan syvyyksien eväkkäitä olentoja!”</a:t>
            </a:r>
            <a:endParaRPr i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Ohjeet: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Kääntäkää tiimalasia ja jokainen pelaaja nimeää vuorollaan eri kalan. Kaloja ei saa toistaa.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Jokaisesta täydestä kierroksesta + 3  eteenpäin. 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497725" y="0"/>
            <a:ext cx="46464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Meren hätä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Veden haltija Ahti sanoo,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“Meri on vaarassa, auta minua nimeämään, mikä sitä vahingoittaa.”</a:t>
            </a:r>
            <a:endParaRPr i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Ohjeet:</a:t>
            </a: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Kääntäkää tiimalasia ja jokainen pelaaja nimeää vuorollaan asioita tai ihmisten toimia, jotka saastuttavat merta ja vahingoittavat sen eliöitä.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Jokaisesta täydestä kierroksesta +3 eteenpäin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Jos pelaajat eivät pääse kokonaista kierrosta, meri on saastunut - 1 taaksepäin.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86E8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-12" y="0"/>
            <a:ext cx="44583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4497725" y="0"/>
            <a:ext cx="46464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descr="Fitxer:Pokémon Water Type Icon.svg - Viquipèdia, l'enciclopèdia lliure"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950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txer:Pokémon Water Type Icon.svg - Viquipèdia, l'enciclopèdia lliure"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8688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-50" y="0"/>
            <a:ext cx="44979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Meren olennot: muut kuin kalat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Ahti sanoo</a:t>
            </a: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“Kaikilla meren olennoilla ei ole kiduksia. Mitä muita eläimiä meressä elää?”</a:t>
            </a:r>
            <a:endParaRPr i="1" sz="1600">
              <a:solidFill>
                <a:srgbClr val="1F1F1F"/>
              </a:solidFill>
              <a:highlight>
                <a:srgbClr val="F8F9FA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Ohjeet:</a:t>
            </a: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Kääntäkää tiimalasia ja jokainen pelaaja nimeää vuorollaan muita meressä asuvia eläimiä, joilla ei ole kiduksia.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Jokaisesta täydestä kierroksesta +3 eteenpäin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4497850" y="0"/>
            <a:ext cx="46461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Ailahteleva valas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Aino sanoo,</a:t>
            </a: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"Valaan mielialaa on vaikea arvata, mutta jos teemme niin, se auttaa meitä eteenpäin.”</a:t>
            </a:r>
            <a:endParaRPr i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Ohjeet: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Kortin nostaja valitsee alla olevista tunteista yhden, jota hänen pitää esittää muille ilman sanoja. 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Vaihtoehdot: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ujo, ärsyyntynyt, väsynyt, innostunut, utelias</a:t>
            </a:r>
            <a:endParaRPr i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Ryhmällä on tiimalasin verran aikaa arvata valaan mieliala.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Oikeasta arvauksesta +3 eteenpäin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86E8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-12" y="0"/>
            <a:ext cx="44583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4497725" y="0"/>
            <a:ext cx="46464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descr="Fitxer:Pokémon Water Type Icon.svg - Viquipèdia, l'enciclopèdia lliure"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950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txer:Pokémon Water Type Icon.svg - Viquipèdia, l'enciclopèdia lliure"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8688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idx="1" type="subTitle"/>
          </p:nvPr>
        </p:nvSpPr>
        <p:spPr>
          <a:xfrm>
            <a:off x="0" y="0"/>
            <a:ext cx="44877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Aino sanoo,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“Delfiinit ovat iloisia teidät nähdessään, se on tarttuvaa! “</a:t>
            </a:r>
            <a:endParaRPr i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Ohjeet: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Kortin nostaja valitsee alla olevista tunteista yhden, jota hänen pitää esittää muille ilman sanoja. Ryhmällä on tiimalasin verran aikaa arvata mikä tunne kyseessä.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Vaihtoehdot: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iloinen, kiitollinen, rauhallinen, ihastunut</a:t>
            </a:r>
            <a:endParaRPr i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Oikeasta arvauksesta +3 eteenpäin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4487700" y="0"/>
            <a:ext cx="41325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Meri hirviö Iku-Tursu sanoo, </a:t>
            </a:r>
            <a:endParaRPr b="1"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br>
              <a:rPr i="1"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i="1"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“Meren jättiläisenä myös tunteeni ovat suuria ja vaihteleva kuin meri varsinkin kun harmittaa!”</a:t>
            </a:r>
            <a:endParaRPr i="1"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i="1"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Ohjeet:</a:t>
            </a:r>
            <a:endParaRPr b="1"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br>
              <a:rPr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Kortin nostaja valitsee alla olevista tunteista yhden, jota hänen pitää esittää muille ilman sanoja. Ryhmällä on tiimalasin verran aikaa arvata mikä tunne kyseessä.</a:t>
            </a:r>
            <a:endParaRPr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Vaihtoehdot:</a:t>
            </a:r>
            <a:endParaRPr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i="1"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surullinen, pelokas, vihainen, ällöttynyt</a:t>
            </a:r>
            <a:br>
              <a:rPr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Oikeasta arvauksesta +3 eteenpäin</a:t>
            </a:r>
            <a:endParaRPr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Jos muut pelaajat eivät arvaa kyseistä tunnetta -1  taaksepäin</a:t>
            </a:r>
            <a:endParaRPr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0" y="0"/>
            <a:ext cx="44877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Aino sanoo,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“Delfiinit ovat iloisia teidät nähdessään, se on tarttuvaa! “</a:t>
            </a:r>
            <a:endParaRPr b="1" i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Ohjeet: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Kortin nostaja valitsee alla olevista tunteista yhden, jota hänen pitää esittää muille ilman sanoja. Ryhmällä on tiimalasin verran aikaa arvata mikä tunne kyseessä.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Vaihtoehdot: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iloinen, kiitollinen, rauhallinen, ihastunut</a:t>
            </a:r>
            <a:endParaRPr b="1" i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Oikeasta arvauksesta +3 eteenpäin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9" name="Google Shape;89;p18"/>
          <p:cNvSpPr txBox="1"/>
          <p:nvPr>
            <p:ph idx="1" type="subTitle"/>
          </p:nvPr>
        </p:nvSpPr>
        <p:spPr>
          <a:xfrm>
            <a:off x="4487700" y="0"/>
            <a:ext cx="41325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Aino says,</a:t>
            </a:r>
            <a:endParaRPr b="1"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i="1"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“The dolphins are happy to see you, it’s contagious!”</a:t>
            </a:r>
            <a:endParaRPr b="1" i="1"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Instructions:</a:t>
            </a:r>
            <a:endParaRPr b="1"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person who draws the card chooses one of the emotions below, which they must express to the others without words. The group has an hourglass-sized amount of time to guess what the emotion is.</a:t>
            </a:r>
            <a:endParaRPr b="1"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Options:</a:t>
            </a:r>
            <a:endParaRPr b="1"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i="1"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happy, grateful, calm, in love</a:t>
            </a:r>
            <a:endParaRPr b="1" i="1"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5993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+3 points for each correct guess</a:t>
            </a:r>
            <a:endParaRPr b="1" sz="5993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descr="Fitxer:Pokémon Water Type Icon.svg - Viquipèdia, l'enciclopèdia lliure"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2425" y="4268227"/>
            <a:ext cx="875275" cy="87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txer:Pokémon Water Type Icon.svg - Viquipèdia, l'enciclopèdia lliure"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4925" y="4268227"/>
            <a:ext cx="875275" cy="87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86E8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-12" y="0"/>
            <a:ext cx="44583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4497725" y="0"/>
            <a:ext cx="46464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descr="Fitxer:Pokémon Water Type Icon.svg - Viquipèdia, l'enciclopèdia lliure"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950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txer:Pokémon Water Type Icon.svg - Viquipèdia, l'enciclopèdia lliure"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8688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" type="subTitle"/>
          </p:nvPr>
        </p:nvSpPr>
        <p:spPr>
          <a:xfrm>
            <a:off x="-50" y="0"/>
            <a:ext cx="44979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Vellamo, Veden emäntä sanoo,  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i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Vesi tuo elämää ja muuttaa muotoaan, olette päässeet lähelle </a:t>
            </a:r>
            <a:endParaRPr i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Ohjeet: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Kääntäkää ajastin ja pelaajat vuorotellen nimeää veden eri muotoja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Jokaisesta täydestä kierroksesta +3 eteenpäin.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600"/>
              </a:spcAft>
              <a:buSzPts val="935"/>
              <a:buNone/>
            </a:pPr>
            <a:r>
              <a:t/>
            </a:r>
            <a:endParaRPr b="1" sz="1135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4497725" y="0"/>
            <a:ext cx="46461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Merenneito Aallotar sanoo,  </a:t>
            </a:r>
            <a:endParaRPr b="1"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-GB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i="1" lang="en-GB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Haluamme auttaa teitä, liikutaan yhdessä sulavasti eteenpäin ”</a:t>
            </a:r>
            <a:endParaRPr i="1"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Ohjeet: </a:t>
            </a:r>
            <a:endParaRPr b="1"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Pelaajat luovat yhdessä aaltojen ketjun. </a:t>
            </a:r>
            <a:endParaRPr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Kortin nostaja aloittaa tekemällä aalloista inspiroituneen liikkeen, seuraava pelaaja toistaa edeltävän ja lisää oman liikkeen ketjun jatkoksi. Seuraava toistaa kaikki aikaisemmat ja lisää oman liikkeen aaltotanssiin.</a:t>
            </a:r>
            <a:endParaRPr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Kierros loppuu kun kortin nostaja tekee koko aalto liikesarjan alusta loppuun. </a:t>
            </a:r>
            <a:endParaRPr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Jokaisesta täydestä kierroksesta +3 eteenpäin. ei saa toistaa aikaisempia liikkeitä</a:t>
            </a:r>
            <a:endParaRPr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86E8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-12" y="0"/>
            <a:ext cx="44583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1" name="Google Shape;111;p21"/>
          <p:cNvSpPr txBox="1"/>
          <p:nvPr>
            <p:ph idx="1" type="subTitle"/>
          </p:nvPr>
        </p:nvSpPr>
        <p:spPr>
          <a:xfrm>
            <a:off x="4497725" y="0"/>
            <a:ext cx="46464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descr="Fitxer:Pokémon Water Type Icon.svg - Viquipèdia, l'enciclopèdia lliure"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950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txer:Pokémon Water Type Icon.svg - Viquipèdia, l'enciclopèdia lliure"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8688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idx="1" type="subTitle"/>
          </p:nvPr>
        </p:nvSpPr>
        <p:spPr>
          <a:xfrm>
            <a:off x="0" y="0"/>
            <a:ext cx="44877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Taistelu merirosvojen kanssa 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Kullo Kaarne merirosvo sanoo, </a:t>
            </a:r>
            <a:endParaRPr b="1" i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 Kuulin, että te etsitte täältä arvokasta aarretta. Syvän meren aarteet ovat meidän! Olemme valmiita taistelemaan siitä” 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Ohjeet: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Pelaajat tekevät yhtä aikaa kivi, paperi, sakset ja tulokset kertovat kuinka taistelu meni. Omaa vaihtoehtoa ei saa vaihtaa sen tehtyään. 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Jos kolmella pelaajalla on sama hyökkäys  pelaajat liikkuu  2 askelta eteenpäin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22"/>
          <p:cNvSpPr txBox="1"/>
          <p:nvPr>
            <p:ph idx="1" type="subTitle"/>
          </p:nvPr>
        </p:nvSpPr>
        <p:spPr>
          <a:xfrm>
            <a:off x="4487775" y="0"/>
            <a:ext cx="46563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Myrsky on tulossa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Myrskyneito Sumutar sanoo: 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</a:t>
            </a:r>
            <a:r>
              <a:rPr i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Ei merta ylitetä pelkillä taidoilla, joskus mukana on ripaus onnea"</a:t>
            </a:r>
            <a:endParaRPr i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Ohjeet: 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Jokainen pelaaja heittää noppaa vuorollaan kerran, ja pitää oman numeron mielessään.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Pelaajat saavat niin monta askelta eteenpäin kun onnistuvat heittämään samoja noppa lukuja.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Jos noppa heitoista ei tule lainkaan samoja lukuja liikkuu pelaajat 1 askeleen taaksepäin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86E8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idx="1" type="subTitle"/>
          </p:nvPr>
        </p:nvSpPr>
        <p:spPr>
          <a:xfrm>
            <a:off x="-12" y="0"/>
            <a:ext cx="44583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5" name="Google Shape;125;p23"/>
          <p:cNvSpPr txBox="1"/>
          <p:nvPr>
            <p:ph idx="1" type="subTitle"/>
          </p:nvPr>
        </p:nvSpPr>
        <p:spPr>
          <a:xfrm>
            <a:off x="4497725" y="0"/>
            <a:ext cx="46464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descr="Fitxer:Pokémon Water Type Icon.svg - Viquipèdia, l'enciclopèdia lliure"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950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txer:Pokémon Water Type Icon.svg - Viquipèdia, l'enciclopèdia lliure"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8688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idx="1" type="subTitle"/>
          </p:nvPr>
        </p:nvSpPr>
        <p:spPr>
          <a:xfrm>
            <a:off x="0" y="0"/>
            <a:ext cx="44877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Tuonelan joutsen sanoo,</a:t>
            </a:r>
            <a:endParaRPr b="1"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i="1" lang="en-GB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Meren alla on monia piilopaikkoja, etsi se joka on eksynyt mereen jatkaaksesi matkaa.”</a:t>
            </a:r>
            <a:endParaRPr i="1"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Ohjeet:</a:t>
            </a:r>
            <a:endParaRPr b="1"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Kortin nostaja valitsee pelilaudalta piilopaikan kertomatta sitä muille.  Kääntäkää ajastinta ja muut pelaajat kysyvät kyllä / ei kysymyksiä löytääkseen hänet. </a:t>
            </a:r>
            <a:endParaRPr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Pelaajilla on tiimalasin verran aikaa löytää piilopaikka ja jos he onnistuvat 3 askel eteenpäin.</a:t>
            </a:r>
            <a:endParaRPr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p24"/>
          <p:cNvSpPr txBox="1"/>
          <p:nvPr>
            <p:ph idx="1" type="subTitle"/>
          </p:nvPr>
        </p:nvSpPr>
        <p:spPr>
          <a:xfrm>
            <a:off x="4487700" y="0"/>
            <a:ext cx="46563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Veden väki sanoo,</a:t>
            </a:r>
            <a:br>
              <a:rPr b="1" i="1" lang="en-GB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1" lang="en-GB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i="1" lang="en-GB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Väinämöinen olet kulkenut merillä jo toistakymmentä vuotta, mitä vaaroja olet kohdannut ja minkälaisia luonnon ystäviä saanut?”</a:t>
            </a:r>
            <a:endParaRPr i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Ohjeet: 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Pelaajat jatkavat tarinan Väinämöisen matkasta, johon jokainen pelaaja vuorollaan lisää yhden lauseen. Tarinassa olisi hyvä olla esimerkkejä hyvistä teoista luonnolle ja miten hän ylitti erilaisia haasteita. 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Väinämöinen sanoi,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”Meri antoi meille polun, mutta se myös pyysi meitä suojelemaan sitä, ja minä lupasin, että me tekisimme niin… </a:t>
            </a:r>
            <a:r>
              <a:rPr i="1" lang="en-GB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Miehistön ensimmäinen lupaus merelle oli…</a:t>
            </a:r>
            <a:endParaRPr i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Kortin nostaja aloittaa jatkamalla lausetta…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Tarina on valmis kun 2 kokonaista kierrosta on tehty , onnistumisesta 2 askelta eteenpäin.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86E8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-12" y="0"/>
            <a:ext cx="44583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9" name="Google Shape;139;p25"/>
          <p:cNvSpPr txBox="1"/>
          <p:nvPr>
            <p:ph idx="1" type="subTitle"/>
          </p:nvPr>
        </p:nvSpPr>
        <p:spPr>
          <a:xfrm>
            <a:off x="4497725" y="0"/>
            <a:ext cx="46464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descr="Fitxer:Pokémon Water Type Icon.svg - Viquipèdia, l'enciclopèdia lliure"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950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txer:Pokémon Water Type Icon.svg - Viquipèdia, l'enciclopèdia lliure"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8688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idx="1" type="subTitle"/>
          </p:nvPr>
        </p:nvSpPr>
        <p:spPr>
          <a:xfrm>
            <a:off x="-50" y="0"/>
            <a:ext cx="44979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1"/>
                </a:solidFill>
              </a:rPr>
              <a:t>Havets varelser: Fiskar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Vattnets väktare Ahti säger: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</a:rPr>
              <a:t>”Hjälp mig skydda djupens fenklädda varelser!”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dk1"/>
                </a:solidFill>
              </a:rPr>
              <a:t>Så gör ni: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Vänd på timglaset.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Spela turvis: varje spelare säger namnet på </a:t>
            </a:r>
            <a:r>
              <a:rPr b="1" lang="en-GB" sz="1800">
                <a:solidFill>
                  <a:schemeClr val="dk1"/>
                </a:solidFill>
              </a:rPr>
              <a:t>en fisk</a:t>
            </a:r>
            <a:r>
              <a:rPr lang="en-GB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Ingen fisk får upprepas.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För varje full runda får gruppen </a:t>
            </a:r>
            <a:r>
              <a:rPr b="1" lang="en-GB" sz="1800">
                <a:solidFill>
                  <a:schemeClr val="dk1"/>
                </a:solidFill>
              </a:rPr>
              <a:t>+3 steg framåt</a:t>
            </a:r>
            <a:r>
              <a:rPr lang="en-GB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b="1" sz="1600">
              <a:solidFill>
                <a:srgbClr val="1F1F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26"/>
          <p:cNvSpPr txBox="1"/>
          <p:nvPr>
            <p:ph idx="1" type="subTitle"/>
          </p:nvPr>
        </p:nvSpPr>
        <p:spPr>
          <a:xfrm>
            <a:off x="4497725" y="0"/>
            <a:ext cx="46464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dk1"/>
                </a:solidFill>
              </a:rPr>
              <a:t>Havets nöd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Vattnets väktare Ahti säger: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”Havet är i fara. Hjälp mig att säga vad som skadar det.”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Så gör ni: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Vänd på timglaset.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Spela turvis: varje spelare nämner </a:t>
            </a:r>
            <a:r>
              <a:rPr b="1" lang="en-GB" sz="1400">
                <a:solidFill>
                  <a:schemeClr val="dk1"/>
                </a:solidFill>
              </a:rPr>
              <a:t>en sak eller mänsklig handling</a:t>
            </a:r>
            <a:r>
              <a:rPr lang="en-GB" sz="1400">
                <a:solidFill>
                  <a:schemeClr val="dk1"/>
                </a:solidFill>
              </a:rPr>
              <a:t> som förorenar havet eller skadar dess liv.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Inget får upprepas.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Poäng: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För varje full runda får gruppen </a:t>
            </a:r>
            <a:r>
              <a:rPr b="1" lang="en-GB" sz="1400">
                <a:solidFill>
                  <a:schemeClr val="dk1"/>
                </a:solidFill>
              </a:rPr>
              <a:t>+3 steg framåt</a:t>
            </a:r>
            <a:r>
              <a:rPr lang="en-GB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Om ni inte klarar en hel runda blir havet förorenat: </a:t>
            </a:r>
            <a:r>
              <a:rPr b="1" lang="en-GB" sz="1400">
                <a:solidFill>
                  <a:schemeClr val="dk1"/>
                </a:solidFill>
              </a:rPr>
              <a:t>–1 steg bakåt</a:t>
            </a:r>
            <a:r>
              <a:rPr lang="en-GB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86E8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" type="subTitle"/>
          </p:nvPr>
        </p:nvSpPr>
        <p:spPr>
          <a:xfrm>
            <a:off x="-12" y="0"/>
            <a:ext cx="44583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53" name="Google Shape;153;p27"/>
          <p:cNvSpPr txBox="1"/>
          <p:nvPr>
            <p:ph idx="1" type="subTitle"/>
          </p:nvPr>
        </p:nvSpPr>
        <p:spPr>
          <a:xfrm>
            <a:off x="4497725" y="0"/>
            <a:ext cx="46464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descr="Fitxer:Pokémon Water Type Icon.svg - Viquipèdia, l'enciclopèdia lliure"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950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txer:Pokémon Water Type Icon.svg - Viquipèdia, l'enciclopèdia lliure"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8688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idx="1" type="subTitle"/>
          </p:nvPr>
        </p:nvSpPr>
        <p:spPr>
          <a:xfrm>
            <a:off x="-50" y="0"/>
            <a:ext cx="44481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chemeClr val="dk1"/>
                </a:solidFill>
              </a:rPr>
              <a:t>Havets varelser: andra än fiskar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</a:rPr>
              <a:t>Ahti säger: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”Alla havets varelser har inte gälar. Vilka andra djur lever i havet?”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Så gör ni: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Vänd på timglaset.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Spela turvis: varje spelare nämner </a:t>
            </a:r>
            <a:r>
              <a:rPr b="1" lang="en-GB" sz="1500">
                <a:solidFill>
                  <a:schemeClr val="dk1"/>
                </a:solidFill>
              </a:rPr>
              <a:t>ett havsdjur utan gälar</a:t>
            </a:r>
            <a:r>
              <a:rPr lang="en-GB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Inget får upprepas.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Poäng: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För varje full runda får gruppen </a:t>
            </a:r>
            <a:r>
              <a:rPr b="1" lang="en-GB" sz="1500">
                <a:solidFill>
                  <a:schemeClr val="dk1"/>
                </a:solidFill>
              </a:rPr>
              <a:t>+3 steg framåt</a:t>
            </a:r>
            <a:r>
              <a:rPr lang="en-GB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b="1" sz="1600">
              <a:solidFill>
                <a:srgbClr val="1F1F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28"/>
          <p:cNvSpPr txBox="1"/>
          <p:nvPr>
            <p:ph idx="1" type="subTitle"/>
          </p:nvPr>
        </p:nvSpPr>
        <p:spPr>
          <a:xfrm>
            <a:off x="4497725" y="0"/>
            <a:ext cx="46464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Vacklande valen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Aino säger: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”Valens humör är svårt att gissa, men om vi lyckas hjälper det oss framåt.”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Så gör ni: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Den som drar kortet väljer </a:t>
            </a:r>
            <a:r>
              <a:rPr b="1" lang="en-GB" sz="1300">
                <a:solidFill>
                  <a:schemeClr val="dk1"/>
                </a:solidFill>
              </a:rPr>
              <a:t>en känsla</a:t>
            </a:r>
            <a:r>
              <a:rPr lang="en-GB" sz="1300">
                <a:solidFill>
                  <a:schemeClr val="dk1"/>
                </a:solidFill>
              </a:rPr>
              <a:t> från listan nedan och </a:t>
            </a:r>
            <a:r>
              <a:rPr b="1" lang="en-GB" sz="1300">
                <a:solidFill>
                  <a:schemeClr val="dk1"/>
                </a:solidFill>
              </a:rPr>
              <a:t>spelar upp den utan ord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Gruppen har timglasets tid på sig att gissa valens humör.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Känslor:</a:t>
            </a:r>
            <a:r>
              <a:rPr lang="en-GB" sz="1300">
                <a:solidFill>
                  <a:schemeClr val="dk1"/>
                </a:solidFill>
              </a:rPr>
              <a:t> 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300">
                <a:solidFill>
                  <a:schemeClr val="dk1"/>
                </a:solidFill>
              </a:rPr>
              <a:t>blyg, irriterad, trött, ivrig, nyfiken</a:t>
            </a:r>
            <a:endParaRPr i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Poäng: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Rätt gissning ger gruppen </a:t>
            </a:r>
            <a:r>
              <a:rPr b="1" lang="en-GB" sz="1300">
                <a:solidFill>
                  <a:schemeClr val="dk1"/>
                </a:solidFill>
              </a:rPr>
              <a:t>+3 steg framåt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86E8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idx="1" type="subTitle"/>
          </p:nvPr>
        </p:nvSpPr>
        <p:spPr>
          <a:xfrm>
            <a:off x="-12" y="0"/>
            <a:ext cx="44583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67" name="Google Shape;167;p29"/>
          <p:cNvSpPr txBox="1"/>
          <p:nvPr>
            <p:ph idx="1" type="subTitle"/>
          </p:nvPr>
        </p:nvSpPr>
        <p:spPr>
          <a:xfrm>
            <a:off x="4497725" y="0"/>
            <a:ext cx="46464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descr="Fitxer:Pokémon Water Type Icon.svg - Viquipèdia, l'enciclopèdia lliure"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950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txer:Pokémon Water Type Icon.svg - Viquipèdia, l'enciclopèdia lliure" id="169" name="Google Shape;1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8688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idx="1" type="subTitle"/>
          </p:nvPr>
        </p:nvSpPr>
        <p:spPr>
          <a:xfrm>
            <a:off x="0" y="0"/>
            <a:ext cx="44976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Smittande delfinglädje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Aino säger: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”Delfinerna blir glada när de ser er, och glädjen smittar!”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Så gör ni: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Den som drar kortet väljer </a:t>
            </a:r>
            <a:r>
              <a:rPr b="1" lang="en-GB" sz="1300">
                <a:solidFill>
                  <a:schemeClr val="dk1"/>
                </a:solidFill>
              </a:rPr>
              <a:t>en känsla</a:t>
            </a:r>
            <a:r>
              <a:rPr lang="en-GB" sz="1300">
                <a:solidFill>
                  <a:schemeClr val="dk1"/>
                </a:solidFill>
              </a:rPr>
              <a:t> från listan nedan och </a:t>
            </a:r>
            <a:r>
              <a:rPr b="1" lang="en-GB" sz="1300">
                <a:solidFill>
                  <a:schemeClr val="dk1"/>
                </a:solidFill>
              </a:rPr>
              <a:t>visar den utan ord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Gruppen har timglasets tid på sig att gissa vilken känsla det är.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Känslor:</a:t>
            </a:r>
            <a:r>
              <a:rPr lang="en-GB" sz="1300">
                <a:solidFill>
                  <a:schemeClr val="dk1"/>
                </a:solidFill>
              </a:rPr>
              <a:t> 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300">
                <a:solidFill>
                  <a:schemeClr val="dk1"/>
                </a:solidFill>
              </a:rPr>
              <a:t>glad, tacksam, lugn, förtjust</a:t>
            </a:r>
            <a:endParaRPr i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Poäng: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Rätt gissning ger gruppen </a:t>
            </a:r>
            <a:r>
              <a:rPr b="1" lang="en-GB" sz="1300">
                <a:solidFill>
                  <a:schemeClr val="dk1"/>
                </a:solidFill>
              </a:rPr>
              <a:t>+3 steg framåt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75" name="Google Shape;175;p30"/>
          <p:cNvSpPr txBox="1"/>
          <p:nvPr>
            <p:ph idx="1" type="subTitle"/>
          </p:nvPr>
        </p:nvSpPr>
        <p:spPr>
          <a:xfrm>
            <a:off x="4497600" y="0"/>
            <a:ext cx="46464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</a:rPr>
              <a:t>Havsjätten Iku-Tursu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Iku‑Tursu säger: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”Som havets jätte är också mina känslor stora och skiftande som havet – särskilt när något retar mig.”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Så gör ni:</a:t>
            </a:r>
            <a:endParaRPr b="1" sz="14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Den som drar kortet väljer </a:t>
            </a:r>
            <a:r>
              <a:rPr b="1" lang="en-GB" sz="1200">
                <a:solidFill>
                  <a:schemeClr val="dk1"/>
                </a:solidFill>
              </a:rPr>
              <a:t>en känsla</a:t>
            </a:r>
            <a:r>
              <a:rPr lang="en-GB" sz="1200">
                <a:solidFill>
                  <a:schemeClr val="dk1"/>
                </a:solidFill>
              </a:rPr>
              <a:t> från listan nedan och </a:t>
            </a:r>
            <a:r>
              <a:rPr b="1" lang="en-GB" sz="1200">
                <a:solidFill>
                  <a:schemeClr val="dk1"/>
                </a:solidFill>
              </a:rPr>
              <a:t>visar den utan ord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Gruppen har timglasets tid på sig att gissa vilken känsla det är.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Känslor:</a:t>
            </a:r>
            <a:r>
              <a:rPr lang="en-GB" sz="1200">
                <a:solidFill>
                  <a:schemeClr val="dk1"/>
                </a:solidFill>
              </a:rPr>
              <a:t>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chemeClr val="dk1"/>
                </a:solidFill>
              </a:rPr>
              <a:t>ledsen, rädd, arg, äcklad</a:t>
            </a:r>
            <a:endParaRPr i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Poäng:</a:t>
            </a:r>
            <a:endParaRPr b="1" sz="14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Rätt gissning ger gruppen </a:t>
            </a:r>
            <a:r>
              <a:rPr b="1" lang="en-GB" sz="1200">
                <a:solidFill>
                  <a:schemeClr val="dk1"/>
                </a:solidFill>
              </a:rPr>
              <a:t>+3 steg framåt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Om gruppen inte lyckas gissa känslan blir havet oroligt: </a:t>
            </a:r>
            <a:r>
              <a:rPr b="1" lang="en-GB" sz="1200">
                <a:solidFill>
                  <a:schemeClr val="dk1"/>
                </a:solidFill>
              </a:rPr>
              <a:t>–1 steg bakåt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b="1" sz="1600">
              <a:solidFill>
                <a:srgbClr val="1F1F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86E8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idx="1" type="subTitle"/>
          </p:nvPr>
        </p:nvSpPr>
        <p:spPr>
          <a:xfrm>
            <a:off x="-12" y="0"/>
            <a:ext cx="44583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81" name="Google Shape;181;p31"/>
          <p:cNvSpPr txBox="1"/>
          <p:nvPr>
            <p:ph idx="1" type="subTitle"/>
          </p:nvPr>
        </p:nvSpPr>
        <p:spPr>
          <a:xfrm>
            <a:off x="4497725" y="0"/>
            <a:ext cx="46464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descr="Fitxer:Pokémon Water Type Icon.svg - Viquipèdia, l'enciclopèdia lliure" id="182" name="Google Shape;1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950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txer:Pokémon Water Type Icon.svg - Viquipèdia, l'enciclopèdia lliure"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8688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idx="1" type="subTitle"/>
          </p:nvPr>
        </p:nvSpPr>
        <p:spPr>
          <a:xfrm>
            <a:off x="0" y="0"/>
            <a:ext cx="44976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chemeClr val="dk1"/>
                </a:solidFill>
              </a:rPr>
              <a:t>Vellamo, Vattnets härskarinna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Vellamo säger: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”Vattnet bär liv och byter ständigt form. Ni har kommit nära.”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Så gör ni: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Vänd på timglaset.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Spela turvis: varje spelare nämner </a:t>
            </a:r>
            <a:r>
              <a:rPr b="1" lang="en-GB" sz="1500">
                <a:solidFill>
                  <a:schemeClr val="dk1"/>
                </a:solidFill>
              </a:rPr>
              <a:t>en form av vatten</a:t>
            </a:r>
            <a:r>
              <a:rPr lang="en-GB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Inget får upprepas.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Poäng: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För varje full runda får gruppen </a:t>
            </a:r>
            <a:r>
              <a:rPr b="1" lang="en-GB" sz="1500">
                <a:solidFill>
                  <a:schemeClr val="dk1"/>
                </a:solidFill>
              </a:rPr>
              <a:t>+3 steg framåt</a:t>
            </a:r>
            <a:r>
              <a:rPr lang="en-GB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89" name="Google Shape;189;p32"/>
          <p:cNvSpPr txBox="1"/>
          <p:nvPr>
            <p:ph idx="1" type="subTitle"/>
          </p:nvPr>
        </p:nvSpPr>
        <p:spPr>
          <a:xfrm>
            <a:off x="4497600" y="0"/>
            <a:ext cx="45747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</a:rPr>
              <a:t>Aallotar, Havets dansare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Aallotar säger: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”Vi vill hjälpa er. Låt oss röra oss framåt tillsammans, mjukt som vågor.”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Så gör ni:</a:t>
            </a:r>
            <a:endParaRPr b="1" sz="14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Spelarna skapar tillsammans en </a:t>
            </a:r>
            <a:r>
              <a:rPr b="1" lang="en-GB" sz="1200">
                <a:solidFill>
                  <a:schemeClr val="dk1"/>
                </a:solidFill>
              </a:rPr>
              <a:t>vågkedja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Den som drar kortet börjar med en </a:t>
            </a:r>
            <a:r>
              <a:rPr b="1" lang="en-GB" sz="1200">
                <a:solidFill>
                  <a:schemeClr val="dk1"/>
                </a:solidFill>
              </a:rPr>
              <a:t>våginspirerad rörelse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Nästa spelare upprepar rörelsen och </a:t>
            </a:r>
            <a:r>
              <a:rPr b="1" lang="en-GB" sz="1200">
                <a:solidFill>
                  <a:schemeClr val="dk1"/>
                </a:solidFill>
              </a:rPr>
              <a:t>lägger till en ny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Nästa spelare gör alla tidigare rörelser i ordning och </a:t>
            </a:r>
            <a:r>
              <a:rPr b="1" lang="en-GB" sz="1200">
                <a:solidFill>
                  <a:schemeClr val="dk1"/>
                </a:solidFill>
              </a:rPr>
              <a:t>lägger till sin egen</a:t>
            </a:r>
            <a:r>
              <a:rPr lang="en-GB" sz="1200">
                <a:solidFill>
                  <a:schemeClr val="dk1"/>
                </a:solidFill>
              </a:rPr>
              <a:t>, och så vidare.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Rundan avslutas när kortdragaren gör </a:t>
            </a:r>
            <a:r>
              <a:rPr b="1" lang="en-GB" sz="1200">
                <a:solidFill>
                  <a:schemeClr val="dk1"/>
                </a:solidFill>
              </a:rPr>
              <a:t>hela vågsekvensen från början till slut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Poäng:</a:t>
            </a:r>
            <a:endParaRPr b="1" sz="14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Varje full runda ger gruppen </a:t>
            </a:r>
            <a:r>
              <a:rPr b="1" lang="en-GB" sz="1200">
                <a:solidFill>
                  <a:schemeClr val="dk1"/>
                </a:solidFill>
              </a:rPr>
              <a:t>+3 steg framåt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Inga rörelser får upprepas tidigare i kedjan.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86E8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idx="1" type="subTitle"/>
          </p:nvPr>
        </p:nvSpPr>
        <p:spPr>
          <a:xfrm>
            <a:off x="-12" y="0"/>
            <a:ext cx="44583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5" name="Google Shape;195;p33"/>
          <p:cNvSpPr txBox="1"/>
          <p:nvPr>
            <p:ph idx="1" type="subTitle"/>
          </p:nvPr>
        </p:nvSpPr>
        <p:spPr>
          <a:xfrm>
            <a:off x="4497725" y="0"/>
            <a:ext cx="46464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descr="Fitxer:Pokémon Water Type Icon.svg - Viquipèdia, l'enciclopèdia lliure"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950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txer:Pokémon Water Type Icon.svg - Viquipèdia, l'enciclopèdia lliure" id="197" name="Google Shape;19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8688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idx="1" type="subTitle"/>
          </p:nvPr>
        </p:nvSpPr>
        <p:spPr>
          <a:xfrm>
            <a:off x="-50" y="0"/>
            <a:ext cx="44979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chemeClr val="dk1"/>
                </a:solidFill>
              </a:rPr>
              <a:t>Strid mot piraterna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</a:rPr>
              <a:t>Kullo Kaarne, piraten, säger: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”Jag hörde att ni letar efter en dyrbar skatt. Djuphavets skatter är våra! Vi är redo att slåss om dem.”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Så gör ni: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Alla spelare gör </a:t>
            </a:r>
            <a:r>
              <a:rPr b="1" lang="en-GB" sz="1500">
                <a:solidFill>
                  <a:schemeClr val="dk1"/>
                </a:solidFill>
              </a:rPr>
              <a:t>sten, sax, påse</a:t>
            </a:r>
            <a:r>
              <a:rPr lang="en-GB" sz="1500">
                <a:solidFill>
                  <a:schemeClr val="dk1"/>
                </a:solidFill>
              </a:rPr>
              <a:t> samtidigt.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När du valt ditt tecken får du </a:t>
            </a:r>
            <a:r>
              <a:rPr b="1" lang="en-GB" sz="1500">
                <a:solidFill>
                  <a:schemeClr val="dk1"/>
                </a:solidFill>
              </a:rPr>
              <a:t>inte byta</a:t>
            </a:r>
            <a:r>
              <a:rPr lang="en-GB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Resultat: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GB" sz="1500">
                <a:solidFill>
                  <a:schemeClr val="dk1"/>
                </a:solidFill>
              </a:rPr>
              <a:t>+2 steg framåt </a:t>
            </a:r>
            <a:r>
              <a:rPr lang="en-GB" sz="1500">
                <a:solidFill>
                  <a:schemeClr val="dk1"/>
                </a:solidFill>
              </a:rPr>
              <a:t>för varje</a:t>
            </a:r>
            <a:r>
              <a:rPr b="1" lang="en-GB" sz="1500">
                <a:solidFill>
                  <a:schemeClr val="dk1"/>
                </a:solidFill>
              </a:rPr>
              <a:t> spelare</a:t>
            </a:r>
            <a:r>
              <a:rPr lang="en-GB" sz="1500">
                <a:solidFill>
                  <a:schemeClr val="dk1"/>
                </a:solidFill>
              </a:rPr>
              <a:t> som visar samma tecken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b="1" sz="1600">
              <a:solidFill>
                <a:srgbClr val="1F1F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34"/>
          <p:cNvSpPr txBox="1"/>
          <p:nvPr>
            <p:ph idx="1" type="subTitle"/>
          </p:nvPr>
        </p:nvSpPr>
        <p:spPr>
          <a:xfrm>
            <a:off x="4497725" y="0"/>
            <a:ext cx="46461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>
                <a:solidFill>
                  <a:schemeClr val="dk1"/>
                </a:solidFill>
              </a:rPr>
              <a:t>Stormen närmar sig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Myrskyneito Sumutar säger: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”Havet korsas inte bara med skicklighet – ibland behövs också en gnutta tur.”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Så gör ni: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Varje spelare kastar tärningen </a:t>
            </a:r>
            <a:r>
              <a:rPr b="1" lang="en-GB" sz="1300">
                <a:solidFill>
                  <a:schemeClr val="dk1"/>
                </a:solidFill>
              </a:rPr>
              <a:t>en gång</a:t>
            </a:r>
            <a:r>
              <a:rPr lang="en-GB" sz="1300">
                <a:solidFill>
                  <a:schemeClr val="dk1"/>
                </a:solidFill>
              </a:rPr>
              <a:t> och behåller sitt nummer i minnet.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Gruppen får gå </a:t>
            </a:r>
            <a:r>
              <a:rPr b="1" lang="en-GB" sz="1300">
                <a:solidFill>
                  <a:schemeClr val="dk1"/>
                </a:solidFill>
              </a:rPr>
              <a:t>lika många steg framåt</a:t>
            </a:r>
            <a:r>
              <a:rPr lang="en-GB" sz="1300">
                <a:solidFill>
                  <a:schemeClr val="dk1"/>
                </a:solidFill>
              </a:rPr>
              <a:t> som antalet spelare som lyckas kasta </a:t>
            </a:r>
            <a:r>
              <a:rPr b="1" lang="en-GB" sz="1300">
                <a:solidFill>
                  <a:schemeClr val="dk1"/>
                </a:solidFill>
              </a:rPr>
              <a:t>samma tal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(Till exempel: två spelare får samma tal → +2 steg.)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Om oturen slår till: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86E8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idx="1" type="subTitle"/>
          </p:nvPr>
        </p:nvSpPr>
        <p:spPr>
          <a:xfrm>
            <a:off x="-12" y="0"/>
            <a:ext cx="44583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09" name="Google Shape;209;p35"/>
          <p:cNvSpPr txBox="1"/>
          <p:nvPr>
            <p:ph idx="1" type="subTitle"/>
          </p:nvPr>
        </p:nvSpPr>
        <p:spPr>
          <a:xfrm>
            <a:off x="4497725" y="0"/>
            <a:ext cx="46464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descr="Fitxer:Pokémon Water Type Icon.svg - Viquipèdia, l'enciclopèdia lliure" id="210" name="Google Shape;2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950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txer:Pokémon Water Type Icon.svg - Viquipèdia, l'enciclopèdia lliure" id="211" name="Google Shape;2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8688" y="1109513"/>
            <a:ext cx="2924474" cy="292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idx="1" type="subTitle"/>
          </p:nvPr>
        </p:nvSpPr>
        <p:spPr>
          <a:xfrm>
            <a:off x="-50" y="0"/>
            <a:ext cx="44979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dk1"/>
                </a:solidFill>
              </a:rPr>
              <a:t>Tuonelas svan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Tuonelas svan säger: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”Under havet finns många gömställen. Hitta den som gått vilse i djupet för att fortsätta er resa.”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Så gör ni: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Den som drar kortet väljer </a:t>
            </a:r>
            <a:r>
              <a:rPr b="1" lang="en-GB" sz="1400">
                <a:solidFill>
                  <a:schemeClr val="dk1"/>
                </a:solidFill>
              </a:rPr>
              <a:t>ett gömställe på spelplanen</a:t>
            </a:r>
            <a:r>
              <a:rPr lang="en-GB" sz="1400">
                <a:solidFill>
                  <a:schemeClr val="dk1"/>
                </a:solidFill>
              </a:rPr>
              <a:t> utan att avslöja det.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Vänd på timglaset.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De andra spelarna ställer </a:t>
            </a:r>
            <a:r>
              <a:rPr b="1" lang="en-GB" sz="1400">
                <a:solidFill>
                  <a:schemeClr val="dk1"/>
                </a:solidFill>
              </a:rPr>
              <a:t>ja/nej‑frågor</a:t>
            </a:r>
            <a:r>
              <a:rPr lang="en-GB" sz="1400">
                <a:solidFill>
                  <a:schemeClr val="dk1"/>
                </a:solidFill>
              </a:rPr>
              <a:t> för att lista ut gömstället.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</a:rPr>
              <a:t>Poäng: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Om spelarna hittar rätt plats i tid går gruppen </a:t>
            </a:r>
            <a:r>
              <a:rPr b="1" lang="en-GB" sz="1400">
                <a:solidFill>
                  <a:schemeClr val="dk1"/>
                </a:solidFill>
              </a:rPr>
              <a:t>+3 steg framåt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b="1" sz="1600">
              <a:solidFill>
                <a:srgbClr val="1F1F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36"/>
          <p:cNvSpPr txBox="1"/>
          <p:nvPr>
            <p:ph idx="1" type="subTitle"/>
          </p:nvPr>
        </p:nvSpPr>
        <p:spPr>
          <a:xfrm>
            <a:off x="4497725" y="0"/>
            <a:ext cx="4646100" cy="5143500"/>
          </a:xfrm>
          <a:prstGeom prst="rect">
            <a:avLst/>
          </a:prstGeom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</a:rPr>
              <a:t>Vattnets folk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Vattnets folk säger: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”Väinämöinen, du har färdats över haven i över tio år. Vilka faror har du mött, och vilka naturens vänner har följt dig?”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Så gör ni:</a:t>
            </a:r>
            <a:endParaRPr b="1" sz="14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Spelarna fortsätter berättelsen om Väinämöinens resa.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Varje spelare lägger till </a:t>
            </a:r>
            <a:r>
              <a:rPr b="1" lang="en-GB" sz="1200">
                <a:solidFill>
                  <a:schemeClr val="dk1"/>
                </a:solidFill>
              </a:rPr>
              <a:t>en mening</a:t>
            </a:r>
            <a:r>
              <a:rPr lang="en-GB" sz="1200">
                <a:solidFill>
                  <a:schemeClr val="dk1"/>
                </a:solidFill>
              </a:rPr>
              <a:t> i turordning.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Berättelsen ska gärna innehålla exempel på </a:t>
            </a:r>
            <a:r>
              <a:rPr b="1" lang="en-GB" sz="1200">
                <a:solidFill>
                  <a:schemeClr val="dk1"/>
                </a:solidFill>
              </a:rPr>
              <a:t>goda handlingar för naturen</a:t>
            </a:r>
            <a:r>
              <a:rPr lang="en-GB" sz="1200">
                <a:solidFill>
                  <a:schemeClr val="dk1"/>
                </a:solidFill>
              </a:rPr>
              <a:t> och hur han </a:t>
            </a:r>
            <a:r>
              <a:rPr b="1" lang="en-GB" sz="1200">
                <a:solidFill>
                  <a:schemeClr val="dk1"/>
                </a:solidFill>
              </a:rPr>
              <a:t>övervann olika utmaningar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Väinämöinen sade: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”Havet gav oss en väg, men det bad oss också att skydda det, och jag lovade att vi skulle göra det… Besättningens första löfte till havet var…”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Den som drar kortet fortsätter meningen och startar berättelsen.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